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366F1"/>
            </a:solidFill>
            <a:prstDash val="solid"/>
          </a:ln>
        </p:spPr>
      </p:sp>
      <p:pic>
        <p:nvPicPr>
          <p:cNvPr id="3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 OPERATION SYSTEM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Transmission Devices Operation &amp; Maintenance sector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Telecom Egypt WE | General Directorate of Canal Cities, Sinai &amp; Red Sea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INITIALIZATION // ARCHITECTURE.MAP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Client-Server Model: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Runs as a centralized local intranet portal using a lightweight Express server.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Backend Core: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Node.js engine handling API requests and orchestrating real-time updates.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Relational Database: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SQLite storage (data.db) provides single-file portability and zero complex overhead.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371600"/>
            <a:ext cx="2468880" cy="6400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CLIENT UI (PWA)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12280" y="2103120"/>
            <a:ext cx="18288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0" y="2560320"/>
            <a:ext cx="2468880" cy="6400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EXPRESS BACKEND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12280" y="3291840"/>
            <a:ext cx="1828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2"/>
          <p:cNvSpPr/>
          <p:nvPr/>
        </p:nvSpPr>
        <p:spPr>
          <a:xfrm>
            <a:off x="5943600" y="3749040"/>
            <a:ext cx="1920240" cy="731520"/>
          </a:xfrm>
          <a:prstGeom prst="can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SQLite DB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INITIALIZATION // DATA_SCHEMAS.DB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Users Table: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Stores profile metadata, hashed credentials, and geographical department permissions.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Entries Table: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Main task repository tracking titles, SLA, assignees, subtasks, and files.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Hierarchy Tables: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Relational structure of sectors, categories, subcategories, and equipment items.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784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Table: Users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id | username | role | allowed_depts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0" y="2468880"/>
            <a:ext cx="283464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Table: Entries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id | title | dept_id | status | due_date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86400" y="3474720"/>
            <a:ext cx="283464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3566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Table: Hierarchy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dept_id | cat_id | sub_id | item_id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ACCESS CONTROL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INITIALIZATION // USER_ROLES.SECURE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Password Protection: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hash algorithms (`bcryptjs`) ensure plain-text passwords never leak.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Session Encryption: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JWT sessions provide stateless security with automatic 8-hour expiry timers.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Access Control Levels: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Restricts user access based on Roles (Admin, Editor, Viewer) and locations.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1645920"/>
            <a:ext cx="1920240" cy="13716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097280"/>
            <a:ext cx="1371600" cy="1371600"/>
          </a:xfrm>
          <a:prstGeom prst="arc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20116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Shape 9"/>
          <p:cNvSpPr/>
          <p:nvPr/>
        </p:nvSpPr>
        <p:spPr>
          <a:xfrm>
            <a:off x="6812280" y="2377440"/>
            <a:ext cx="1828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SECURITY SECURED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UI/UX SYSTEM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USER_INTERFACE // GRAPHICS.THEMES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Modern Aesthetics: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Clean dark cyberpunk layout using a glassmorphic dashboard panel setup.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Theme Switcher: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Quick toggling between Violet (default), Slate, and Light mode interfaces.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Localization &amp; Welcome: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Smooth transition from login to a 5-second personalized greeting portal.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94960" y="1371600"/>
            <a:ext cx="3017520" cy="2286000"/>
          </a:xfrm>
          <a:prstGeom prst="rect">
            <a:avLst/>
          </a:prstGeom>
          <a:solidFill>
            <a:srgbClr val="0B0F19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554480"/>
            <a:ext cx="731520" cy="1920240"/>
          </a:xfrm>
          <a:prstGeom prst="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554480"/>
            <a:ext cx="173736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2286000"/>
            <a:ext cx="1737360" cy="1188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UI Blueprints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KNOWLEDGE SEARCH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SEARCH_KPI.LIVE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Metric Overviews: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KPI counters summarize network health, SLA adherence, and active work logs.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Structured Tree: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 custom sidebar layout representing transmission racks allowing filter nodes.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Context-Aware Search: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Full-text query index targeting titles and notes to fetch similar solutions.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645920"/>
            <a:ext cx="2834640" cy="5486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Search: "Main Crane Failure"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0" y="2468880"/>
            <a:ext cx="2834640" cy="146304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6517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Query Results (SQLite Index):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- Fault 1: Circuit breaker burn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  [Solution: Fuse replaced 16A]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KANBAN TASK MANAGER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KANBAN.FLOWS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Five Operation States: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Tracks tasks under Pending, On Track, At Risk, Delayed, and Completed lanes.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Drag &amp; Drop Updates: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Seamlessly shift cards across columns with instant WebSocket synchronization.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Detailed Overviews: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Each task card preview shows due dates, assignees, and progress bars.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371600"/>
            <a:ext cx="822960" cy="2743200"/>
          </a:xfrm>
          <a:prstGeom prst="rect">
            <a:avLst/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371600"/>
            <a:ext cx="822960" cy="2743200"/>
          </a:xfrm>
          <a:prstGeom prst="rect">
            <a:avLst/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0" y="1371600"/>
            <a:ext cx="822960" cy="2743200"/>
          </a:xfrm>
          <a:prstGeom prst="rect">
            <a:avLst/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77840" y="1554480"/>
            <a:ext cx="640080" cy="5486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2194560"/>
            <a:ext cx="640080" cy="5486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2926080"/>
            <a:ext cx="640080" cy="5486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4206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Kanban Cards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CALENDAR &amp; SLA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CALENDAR.SLA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Roster Scheduling: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Renders shifts visually on a monthly grid for easy engineers dispatch.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Color Alarms: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Identifies urgency: Red (Delayed critical issues), Orange (Nearing limit), Green (Closed).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Adherence: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Calculates active delays to alert dispatchers regarding critical hardware downtime.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2377440"/>
          </a:xfrm>
          <a:prstGeom prst="rect">
            <a:avLst/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64592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64592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49440" y="164592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164592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219456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219456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49440" y="219456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219456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274320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274320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49440" y="274320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9520" y="274320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329184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29184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49440" y="329184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89520" y="3291840"/>
            <a:ext cx="457200" cy="365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Shift Calendar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KPI REPORTS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CHART.JS_PDF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Visual Metrics: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Renders interactive line, pie, and bar charts monitoring regional health.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Workload Auditing: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Bar graphs demonstrate engineer workloads to prevent operational fatigue.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Printable Documentation: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Downloads clean PDF transcripts matching corporate layouts for manager audits.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2377440"/>
          </a:xfrm>
          <a:prstGeom prst="rect">
            <a:avLst/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645920"/>
            <a:ext cx="45720" cy="20116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0" y="3657600"/>
            <a:ext cx="246888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Shape 9"/>
          <p:cNvSpPr/>
          <p:nvPr/>
        </p:nvSpPr>
        <p:spPr>
          <a:xfrm>
            <a:off x="6126480" y="274320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5120" y="219456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Shape 11"/>
          <p:cNvSpPr/>
          <p:nvPr/>
        </p:nvSpPr>
        <p:spPr>
          <a:xfrm>
            <a:off x="7223760" y="292608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0" y="182880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Interactive KPIs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PREVENTIVE MAINTENANCE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PM.AUTOMATION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PM Templates Roster: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Allows administration to draft recurring equipment diagnostic checksheets.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Execution Frequencies: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Automates scheduling (Daily, Weekly, Monthly, Annually) per equipment rack.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Background Spawner: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server compares timestamps in the background and injects active cards when due.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1645920"/>
            <a:ext cx="1828800" cy="1828800"/>
          </a:xfrm>
          <a:prstGeom prst="ellipse">
            <a:avLst/>
          </a:prstGeom>
          <a:solidFill>
            <a:srgbClr val="1F2937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103120"/>
            <a:ext cx="914400" cy="914400"/>
          </a:xfrm>
          <a:prstGeom prst="ellipse">
            <a:avLst/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AUTO ENGINE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EVALUATION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LEADERBOARDS.POINTS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Gamified Operations: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Calculates engineer points automatically relative to completed task difficulties.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Leaderboards: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Arranges engineers dynamically in rankings to fuel productivity.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Yearly Appraisals: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Saves annual ratings (Excellent, Very Good) alongside manager feedback logs.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2011680"/>
            <a:ext cx="1005840" cy="1828800"/>
          </a:xfrm>
          <a:prstGeom prst="rect">
            <a:avLst/>
          </a:prstGeom>
          <a:solidFill>
            <a:srgbClr val="1F293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1st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560320"/>
            <a:ext cx="914400" cy="1280160"/>
          </a:xfrm>
          <a:prstGeom prst="rect">
            <a:avLst/>
          </a:prstGeom>
          <a:solidFill>
            <a:srgbClr val="1F293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2nd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06640" y="3017520"/>
            <a:ext cx="914400" cy="822960"/>
          </a:xfrm>
          <a:prstGeom prst="rect">
            <a:avLst/>
          </a:prstGeom>
          <a:solidFill>
            <a:srgbClr val="1F293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</a:rPr>
              <a:t>3rd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MODULES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WEBRTC.SIGNALS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Encrypted Chat Channels: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text chat coordinates teams with inline image uploads.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P2P WebRTC Voice Rooms: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Audio conferences launch directly on web clients with high-fidelity streams.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Signaling Handshakes: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WebSocket servers signal audio connections without saving voice files.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6126480" y="1554480"/>
            <a:ext cx="1554480" cy="1554480"/>
          </a:xfrm>
          <a:prstGeom prst="arc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0" y="1097280"/>
            <a:ext cx="2468880" cy="2468880"/>
          </a:xfrm>
          <a:prstGeom prst="arc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RTC Audio Channels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CAPABILITIES &amp; PWA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OFFLINE.SYNC_QUEUE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Service Worker Cache: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Tethers asset bundles using `sw.js` allowing launches on remote sites.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Queueing: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Caches user alterations in LocalStorage databases when connections drop.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Background Sync: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Detects online handshakes automatically to sync records back to server.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371600"/>
            <a:ext cx="1737360" cy="10058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554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Client Device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(Offline)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3108960"/>
            <a:ext cx="1737360" cy="10058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3291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Express Server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(Online Sync)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2560320"/>
            <a:ext cx="182880" cy="36576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BACKUPS &amp; SYSTEM AUDIT LOGS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AUDIT_LOGGER.SECURE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Audit Trail: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database logger tracks user inputs, mutations, and actions.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 Backups: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Creates periodic backup dumps under `backups/` directories.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JSON Import &amp; Export: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Enables quick migration of system configurations into portable text files.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0" y="1280160"/>
            <a:ext cx="1371600" cy="731520"/>
          </a:xfrm>
          <a:prstGeom prst="can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2194560"/>
            <a:ext cx="1371600" cy="731520"/>
          </a:xfrm>
          <a:prstGeom prst="can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3108960"/>
            <a:ext cx="1371600" cy="731520"/>
          </a:xfrm>
          <a:prstGeom prst="can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Secure Archiving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SYSTEM UPGRADES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SYSTEM.STABILIZE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Double-Click Booting: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Index portals fallback cleanly to localhosts when launched as standard files.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Heartbeat Optimizations: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Server grace periods extended to 2 minutes, preventing server exit on reloads.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Bespoke Login &amp; Storage: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login portals customized for transmission sector engineers.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2377440"/>
          </a:xfrm>
          <a:prstGeom prst="rect">
            <a:avLst/>
          </a:prstGeom>
          <a:solidFill>
            <a:srgbClr val="0B0F1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2560320"/>
            <a:ext cx="4572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8"/>
          <p:cNvSpPr/>
          <p:nvPr/>
        </p:nvSpPr>
        <p:spPr>
          <a:xfrm>
            <a:off x="6126480" y="1828800"/>
            <a:ext cx="45720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9"/>
          <p:cNvSpPr/>
          <p:nvPr/>
        </p:nvSpPr>
        <p:spPr>
          <a:xfrm>
            <a:off x="6126480" y="1828800"/>
            <a:ext cx="182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Shape 10"/>
          <p:cNvSpPr/>
          <p:nvPr/>
        </p:nvSpPr>
        <p:spPr>
          <a:xfrm>
            <a:off x="6309360" y="1828800"/>
            <a:ext cx="45720" cy="1645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0" y="3474720"/>
            <a:ext cx="182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256032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3"/>
          <p:cNvSpPr/>
          <p:nvPr/>
        </p:nvSpPr>
        <p:spPr>
          <a:xfrm>
            <a:off x="6492240" y="2560320"/>
            <a:ext cx="15544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System Heartbeat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Partners &amp; Project Stakeholders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 // TEAM.MEMBERS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384048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Transmission Operations Engineers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Eng. El-Hady Ahmed       • Eng. Hanady El-Helw
• Eng. Mohamed Mostafa     • Eng. Mohamed Salah
• Eng. Eman Abdel-Razek    • Eng. Rania Mahmoud
• Eng. Ahmed Taha          • Eng. Ahmed Hamdy
• Ashraf Kemal             • Wafaa Abdel-Razek
• Eng. Nour                • Eng. Alaa
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84048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Database Stakeholders &amp; Supervisors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16459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Engineer: Ahmed Taha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Role: Transmission O&amp;M Sector - North Sinai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Email: Ahmed.t.ahmad@te.eg | 01550030770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Engineer: Ahmed Metwaly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Role: First General Administration - El-Weng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Email: ahmed.t.ahmad@te.eg | 01000000000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Project Overseer: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General Directorate of Canal Cities, Sinai &amp; Red Sea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Telecom Egypt WE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Operation System - Executive Overview</dc:title>
  <dc:subject>WE Transmission Ops</dc:subject>
  <dc:creator>Antigravity AI</dc:creator>
  <cp:lastModifiedBy>Antigravity AI</cp:lastModifiedBy>
  <cp:revision>1</cp:revision>
  <dcterms:created xsi:type="dcterms:W3CDTF">2026-06-03T21:33:16Z</dcterms:created>
  <dcterms:modified xsi:type="dcterms:W3CDTF">2026-06-03T21:33:16Z</dcterms:modified>
</cp:coreProperties>
</file>