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7680960" cy="3657600"/>
          </a:xfrm>
          <a:prstGeom prst="roundRect">
            <a:avLst/>
          </a:prstGeom>
          <a:solidFill>
            <a:srgbClr val="100A1C"/>
          </a:solidFill>
          <a:ln w="25400">
            <a:solidFill>
              <a:srgbClr val="8B5CF6"/>
            </a:solidFill>
            <a:prstDash val="solid"/>
          </a:ln>
        </p:spPr>
      </p:sp>
      <p:pic>
        <p:nvPicPr>
          <p:cNvPr id="3" name="Image 0" descr="w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109728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377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OPS OPERATION SYSTEM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914400" y="2926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Transmission Devices Operation &amp; Maintenance sector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Telecom Egypt WE | General Directorate of Canal Cities, Sinai &amp; Red Sea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2860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5943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INITIALIZATION // ARCHITECTURE.MAP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097280"/>
            <a:ext cx="4389120" cy="3566160"/>
          </a:xfrm>
          <a:prstGeom prst="roundRect">
            <a:avLst/>
          </a:prstGeom>
          <a:solidFill>
            <a:srgbClr val="100A1C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28016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Client-Server Model: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Runs as a centralized local intranet portal using a lightweight Express server.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Backend Core: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Node.js engine handling API requests and orchestrating real-time updates.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Relational Database: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SQLite storage (data.db) provides single-file portability and zero complex overhead.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120640" y="1097280"/>
            <a:ext cx="3566160" cy="3566160"/>
          </a:xfrm>
          <a:prstGeom prst="roundRect">
            <a:avLst/>
          </a:prstGeom>
          <a:solidFill>
            <a:srgbClr val="100A1C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69280" y="1371600"/>
            <a:ext cx="2468880" cy="640080"/>
          </a:xfrm>
          <a:prstGeom prst="roundRect">
            <a:avLst/>
          </a:prstGeom>
          <a:solidFill>
            <a:srgbClr val="201538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0" y="1463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</a:rPr>
              <a:t>CLIENT UI (PWA)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812280" y="2103120"/>
            <a:ext cx="182880" cy="3657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Shape 9"/>
          <p:cNvSpPr/>
          <p:nvPr/>
        </p:nvSpPr>
        <p:spPr>
          <a:xfrm>
            <a:off x="5669280" y="2560320"/>
            <a:ext cx="2468880" cy="640080"/>
          </a:xfrm>
          <a:prstGeom prst="roundRect">
            <a:avLst/>
          </a:prstGeom>
          <a:solidFill>
            <a:srgbClr val="201538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0" y="2651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EXPRESS BACKEND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812280" y="3291840"/>
            <a:ext cx="18288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Shape 12"/>
          <p:cNvSpPr/>
          <p:nvPr/>
        </p:nvSpPr>
        <p:spPr>
          <a:xfrm>
            <a:off x="5943600" y="3749040"/>
            <a:ext cx="1920240" cy="731520"/>
          </a:xfrm>
          <a:prstGeom prst="can">
            <a:avLst/>
          </a:prstGeom>
          <a:solidFill>
            <a:srgbClr val="201538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0" y="39319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SQLite DB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2860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SCHEMA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5943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INITIALIZATION // DATA_SCHEMAS.DB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097280"/>
            <a:ext cx="4389120" cy="3566160"/>
          </a:xfrm>
          <a:prstGeom prst="roundRect">
            <a:avLst/>
          </a:prstGeom>
          <a:solidFill>
            <a:srgbClr val="100A1C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28016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Users Table: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Stores profile metadata, hashed credentials, and geographical department permissions.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Entries Table: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Main task repository tracking titles, SLA, assignees, subtasks, and files.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Hierarchy Tables: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Relational structure of sectors, categories, subcategories, and equipment items.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120640" y="1097280"/>
            <a:ext cx="3566160" cy="3566160"/>
          </a:xfrm>
          <a:prstGeom prst="roundRect">
            <a:avLst/>
          </a:prstGeom>
          <a:solidFill>
            <a:srgbClr val="100A1C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0" y="1463040"/>
            <a:ext cx="2834640" cy="731520"/>
          </a:xfrm>
          <a:prstGeom prst="rect">
            <a:avLst/>
          </a:prstGeom>
          <a:solidFill>
            <a:srgbClr val="201538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577840" y="15544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Table: Users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577840" y="18288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id | username | role | allowed_depts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486400" y="2468880"/>
            <a:ext cx="2834640" cy="731520"/>
          </a:xfrm>
          <a:prstGeom prst="rect">
            <a:avLst/>
          </a:prstGeom>
          <a:solidFill>
            <a:srgbClr val="20153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77840" y="25603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Table: Entries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577840" y="28346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id | title | dept_id | status | due_date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5486400" y="3474720"/>
            <a:ext cx="2834640" cy="731520"/>
          </a:xfrm>
          <a:prstGeom prst="rect">
            <a:avLst/>
          </a:prstGeom>
          <a:solidFill>
            <a:srgbClr val="201538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577840" y="35661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</a:rPr>
              <a:t>Table: Hierarchy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577840" y="38404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dept_id | cat_id | sub_id | item_id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2860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&amp; ACCESS CONTROL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5943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INITIALIZATION // USER_ROLES.SECURE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097280"/>
            <a:ext cx="4389120" cy="3566160"/>
          </a:xfrm>
          <a:prstGeom prst="roundRect">
            <a:avLst/>
          </a:prstGeom>
          <a:solidFill>
            <a:srgbClr val="100A1C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28016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Password Protection: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Secure hash algorithms (`bcryptjs`) ensure plain-text passwords never leak.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Session Encryption: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JWT sessions provide stateless security with automatic 8-hour expiry timers.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Access Control Levels: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Restricts user access based on Roles (Admin, Editor, Viewer) and locations.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120640" y="1097280"/>
            <a:ext cx="3566160" cy="3566160"/>
          </a:xfrm>
          <a:prstGeom prst="roundRect">
            <a:avLst/>
          </a:prstGeom>
          <a:solidFill>
            <a:srgbClr val="100A1C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943600" y="1645920"/>
            <a:ext cx="1920240" cy="1371600"/>
          </a:xfrm>
          <a:prstGeom prst="roundRect">
            <a:avLst/>
          </a:prstGeom>
          <a:solidFill>
            <a:srgbClr val="20153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17920" y="1097280"/>
            <a:ext cx="1371600" cy="1371600"/>
          </a:xfrm>
          <a:prstGeom prst="arc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75120" y="201168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Shape 9"/>
          <p:cNvSpPr/>
          <p:nvPr/>
        </p:nvSpPr>
        <p:spPr>
          <a:xfrm>
            <a:off x="6812280" y="2377440"/>
            <a:ext cx="18288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0" y="34747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SECURITY SECURED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2860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PREMIUM UI/UX SYSTEM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5943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USER_INTERFACE // GRAPHICS.THEMES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097280"/>
            <a:ext cx="4389120" cy="3566160"/>
          </a:xfrm>
          <a:prstGeom prst="roundRect">
            <a:avLst/>
          </a:prstGeom>
          <a:solidFill>
            <a:srgbClr val="100A1C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28016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Modern Aesthetics: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Clean dark cyberpunk layout using a glassmorphic dashboard panel setup.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Theme Switcher: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Quick toggling between Violet (default), Slate, and Light mode interfaces.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Localization &amp; Welcome: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Smooth transition from login to a 5-second personalized greeting portal.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120640" y="1097280"/>
            <a:ext cx="3566160" cy="3566160"/>
          </a:xfrm>
          <a:prstGeom prst="roundRect">
            <a:avLst/>
          </a:prstGeom>
          <a:solidFill>
            <a:srgbClr val="100A1C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394960" y="1371600"/>
            <a:ext cx="3017520" cy="2286000"/>
          </a:xfrm>
          <a:prstGeom prst="rect">
            <a:avLst/>
          </a:prstGeom>
          <a:solidFill>
            <a:srgbClr val="120C24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577840" y="1554480"/>
            <a:ext cx="731520" cy="1920240"/>
          </a:xfrm>
          <a:prstGeom prst="rect">
            <a:avLst/>
          </a:prstGeom>
          <a:solidFill>
            <a:srgbClr val="201538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92240" y="1554480"/>
            <a:ext cx="1737360" cy="548640"/>
          </a:xfrm>
          <a:prstGeom prst="rect">
            <a:avLst/>
          </a:prstGeom>
          <a:solidFill>
            <a:srgbClr val="201538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92240" y="2286000"/>
            <a:ext cx="1737360" cy="1188720"/>
          </a:xfrm>
          <a:prstGeom prst="rect">
            <a:avLst/>
          </a:prstGeom>
          <a:solidFill>
            <a:srgbClr val="20153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94960" y="3749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</a:rPr>
              <a:t>UI Blueprints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2860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&amp; KNOWLEDGE SEARCH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5943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CORE_MODULES // SEARCH_KPI.LIVE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097280"/>
            <a:ext cx="4389120" cy="3566160"/>
          </a:xfrm>
          <a:prstGeom prst="roundRect">
            <a:avLst/>
          </a:prstGeom>
          <a:solidFill>
            <a:srgbClr val="100A1C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28016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Metric Overviews: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KPI counters summarize network health, SLA adherence, and active work logs.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Structured Tree: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A custom sidebar layout representing transmission racks allowing filter nodes.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Context-Aware Search: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Full-text query index targeting titles and notes to fetch similar solutions.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120640" y="1097280"/>
            <a:ext cx="3566160" cy="3566160"/>
          </a:xfrm>
          <a:prstGeom prst="roundRect">
            <a:avLst/>
          </a:prstGeom>
          <a:solidFill>
            <a:srgbClr val="100A1C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0" y="1645920"/>
            <a:ext cx="2834640" cy="548640"/>
          </a:xfrm>
          <a:prstGeom prst="roundRect">
            <a:avLst/>
          </a:prstGeom>
          <a:solidFill>
            <a:srgbClr val="201538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0" y="17830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</a:rPr>
              <a:t>Search: "Main Crane Failure"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0" y="2468880"/>
            <a:ext cx="2834640" cy="1463040"/>
          </a:xfrm>
          <a:prstGeom prst="roundRect">
            <a:avLst/>
          </a:prstGeom>
          <a:solidFill>
            <a:srgbClr val="120C24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9280" y="265176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Query Results (SQLite Index):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- Fault 1: Circuit breaker burn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  [Solution: Fuse replaced 16A]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2860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KANBAN TASK MANAGER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5943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CORE_MODULES // KANBAN.FLOWS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097280"/>
            <a:ext cx="4389120" cy="3566160"/>
          </a:xfrm>
          <a:prstGeom prst="roundRect">
            <a:avLst/>
          </a:prstGeom>
          <a:solidFill>
            <a:srgbClr val="100A1C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28016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Five Operation States: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Tracks tasks under Pending, On Track, At Risk, Delayed, and Completed lanes.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Drag &amp; Drop Updates: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Seamlessly shift cards across columns with instant WebSocket synchronization.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Detailed Overviews: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Each task card preview shows due dates, assignees, and progress bars.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120640" y="1097280"/>
            <a:ext cx="3566160" cy="3566160"/>
          </a:xfrm>
          <a:prstGeom prst="roundRect">
            <a:avLst/>
          </a:prstGeom>
          <a:solidFill>
            <a:srgbClr val="100A1C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0" y="1371600"/>
            <a:ext cx="822960" cy="2743200"/>
          </a:xfrm>
          <a:prstGeom prst="rect">
            <a:avLst/>
          </a:prstGeom>
          <a:solidFill>
            <a:srgbClr val="120C24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92240" y="1371600"/>
            <a:ext cx="822960" cy="2743200"/>
          </a:xfrm>
          <a:prstGeom prst="rect">
            <a:avLst/>
          </a:prstGeom>
          <a:solidFill>
            <a:srgbClr val="120C24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498080" y="1371600"/>
            <a:ext cx="822960" cy="2743200"/>
          </a:xfrm>
          <a:prstGeom prst="rect">
            <a:avLst/>
          </a:prstGeom>
          <a:solidFill>
            <a:srgbClr val="120C24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577840" y="1554480"/>
            <a:ext cx="640080" cy="548640"/>
          </a:xfrm>
          <a:prstGeom prst="roundRect">
            <a:avLst/>
          </a:prstGeom>
          <a:solidFill>
            <a:srgbClr val="20153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83680" y="2194560"/>
            <a:ext cx="640080" cy="548640"/>
          </a:xfrm>
          <a:prstGeom prst="roundRect">
            <a:avLst/>
          </a:prstGeom>
          <a:solidFill>
            <a:srgbClr val="201538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589520" y="2926080"/>
            <a:ext cx="640080" cy="548640"/>
          </a:xfrm>
          <a:prstGeom prst="roundRect">
            <a:avLst/>
          </a:prstGeom>
          <a:solidFill>
            <a:srgbClr val="20153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0" y="42062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Kanban Cards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2860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OPERATIONS CALENDAR &amp; SLA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5943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CORE_MODULES // CALENDAR.SLA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097280"/>
            <a:ext cx="4389120" cy="3566160"/>
          </a:xfrm>
          <a:prstGeom prst="roundRect">
            <a:avLst/>
          </a:prstGeom>
          <a:solidFill>
            <a:srgbClr val="100A1C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28016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Roster Scheduling: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Renders shifts visually on a monthly grid for easy engineers dispatch.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Color Alarms: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Identifies urgency: Red (Delayed critical issues), Orange (Nearing limit), Green (Closed).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SLA Adherence: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Calculates active delays to alert dispatchers regarding critical hardware downtime.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120640" y="1097280"/>
            <a:ext cx="3566160" cy="3566160"/>
          </a:xfrm>
          <a:prstGeom prst="roundRect">
            <a:avLst/>
          </a:prstGeom>
          <a:solidFill>
            <a:srgbClr val="100A1C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0" y="1463040"/>
            <a:ext cx="2834640" cy="2377440"/>
          </a:xfrm>
          <a:prstGeom prst="rect">
            <a:avLst/>
          </a:prstGeom>
          <a:solidFill>
            <a:srgbClr val="120C24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69280" y="1645920"/>
            <a:ext cx="457200" cy="365760"/>
          </a:xfrm>
          <a:prstGeom prst="roundRect">
            <a:avLst/>
          </a:prstGeom>
          <a:solidFill>
            <a:srgbClr val="20153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09360" y="1645920"/>
            <a:ext cx="457200" cy="365760"/>
          </a:xfrm>
          <a:prstGeom prst="roundRect">
            <a:avLst/>
          </a:prstGeom>
          <a:solidFill>
            <a:srgbClr val="20153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949440" y="1645920"/>
            <a:ext cx="457200" cy="365760"/>
          </a:xfrm>
          <a:prstGeom prst="roundRect">
            <a:avLst/>
          </a:prstGeom>
          <a:solidFill>
            <a:srgbClr val="20153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589520" y="1645920"/>
            <a:ext cx="457200" cy="365760"/>
          </a:xfrm>
          <a:prstGeom prst="roundRect">
            <a:avLst/>
          </a:prstGeom>
          <a:solidFill>
            <a:srgbClr val="201538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69280" y="2194560"/>
            <a:ext cx="457200" cy="365760"/>
          </a:xfrm>
          <a:prstGeom prst="roundRect">
            <a:avLst/>
          </a:prstGeom>
          <a:solidFill>
            <a:srgbClr val="20153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309360" y="2194560"/>
            <a:ext cx="457200" cy="365760"/>
          </a:xfrm>
          <a:prstGeom prst="roundRect">
            <a:avLst/>
          </a:prstGeom>
          <a:solidFill>
            <a:srgbClr val="20153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949440" y="2194560"/>
            <a:ext cx="457200" cy="365760"/>
          </a:xfrm>
          <a:prstGeom prst="roundRect">
            <a:avLst/>
          </a:prstGeom>
          <a:solidFill>
            <a:srgbClr val="20153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589520" y="2194560"/>
            <a:ext cx="457200" cy="365760"/>
          </a:xfrm>
          <a:prstGeom prst="roundRect">
            <a:avLst/>
          </a:prstGeom>
          <a:solidFill>
            <a:srgbClr val="20153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669280" y="2743200"/>
            <a:ext cx="457200" cy="365760"/>
          </a:xfrm>
          <a:prstGeom prst="roundRect">
            <a:avLst/>
          </a:prstGeom>
          <a:solidFill>
            <a:srgbClr val="201538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309360" y="2743200"/>
            <a:ext cx="457200" cy="365760"/>
          </a:xfrm>
          <a:prstGeom prst="roundRect">
            <a:avLst/>
          </a:prstGeom>
          <a:solidFill>
            <a:srgbClr val="20153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949440" y="2743200"/>
            <a:ext cx="457200" cy="365760"/>
          </a:xfrm>
          <a:prstGeom prst="roundRect">
            <a:avLst/>
          </a:prstGeom>
          <a:solidFill>
            <a:srgbClr val="20153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589520" y="2743200"/>
            <a:ext cx="457200" cy="365760"/>
          </a:xfrm>
          <a:prstGeom prst="roundRect">
            <a:avLst/>
          </a:prstGeom>
          <a:solidFill>
            <a:srgbClr val="20153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669280" y="3291840"/>
            <a:ext cx="457200" cy="365760"/>
          </a:xfrm>
          <a:prstGeom prst="roundRect">
            <a:avLst/>
          </a:prstGeom>
          <a:solidFill>
            <a:srgbClr val="20153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09360" y="3291840"/>
            <a:ext cx="457200" cy="365760"/>
          </a:xfrm>
          <a:prstGeom prst="roundRect">
            <a:avLst/>
          </a:prstGeom>
          <a:solidFill>
            <a:srgbClr val="20153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949440" y="3291840"/>
            <a:ext cx="457200" cy="365760"/>
          </a:xfrm>
          <a:prstGeom prst="roundRect">
            <a:avLst/>
          </a:prstGeom>
          <a:solidFill>
            <a:srgbClr val="20153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589520" y="3291840"/>
            <a:ext cx="457200" cy="365760"/>
          </a:xfrm>
          <a:prstGeom prst="roundRect">
            <a:avLst/>
          </a:prstGeom>
          <a:solidFill>
            <a:srgbClr val="20153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486400" y="40233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</a:rPr>
              <a:t>Shift Calendar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2860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 &amp; KPI REPORTS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5943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CORE_MODULES // CHART.JS_PDF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097280"/>
            <a:ext cx="4389120" cy="3566160"/>
          </a:xfrm>
          <a:prstGeom prst="roundRect">
            <a:avLst/>
          </a:prstGeom>
          <a:solidFill>
            <a:srgbClr val="100A1C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28016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Visual Metrics: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Renders interactive line, pie, and bar charts monitoring regional health.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Workload Auditing: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Bar graphs demonstrate engineer workloads to prevent operational fatigue.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Printable Documentation: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Downloads clean PDF transcripts matching corporate layouts for manager audits.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120640" y="1097280"/>
            <a:ext cx="3566160" cy="3566160"/>
          </a:xfrm>
          <a:prstGeom prst="roundRect">
            <a:avLst/>
          </a:prstGeom>
          <a:solidFill>
            <a:srgbClr val="100A1C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0" y="1463040"/>
            <a:ext cx="2834640" cy="2377440"/>
          </a:xfrm>
          <a:prstGeom prst="rect">
            <a:avLst/>
          </a:prstGeom>
          <a:solidFill>
            <a:srgbClr val="120C24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69280" y="1645920"/>
            <a:ext cx="45720" cy="201168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1" name="Shape 8"/>
          <p:cNvSpPr/>
          <p:nvPr/>
        </p:nvSpPr>
        <p:spPr>
          <a:xfrm>
            <a:off x="5669280" y="3657600"/>
            <a:ext cx="2468880" cy="457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2" name="Shape 9"/>
          <p:cNvSpPr/>
          <p:nvPr/>
        </p:nvSpPr>
        <p:spPr>
          <a:xfrm>
            <a:off x="6126480" y="2743200"/>
            <a:ext cx="91440" cy="914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3" name="Shape 10"/>
          <p:cNvSpPr/>
          <p:nvPr/>
        </p:nvSpPr>
        <p:spPr>
          <a:xfrm>
            <a:off x="6675120" y="2194560"/>
            <a:ext cx="91440" cy="914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4" name="Shape 11"/>
          <p:cNvSpPr/>
          <p:nvPr/>
        </p:nvSpPr>
        <p:spPr>
          <a:xfrm>
            <a:off x="7223760" y="2926080"/>
            <a:ext cx="91440" cy="914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5" name="Shape 12"/>
          <p:cNvSpPr/>
          <p:nvPr/>
        </p:nvSpPr>
        <p:spPr>
          <a:xfrm>
            <a:off x="7772400" y="1828800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3"/>
          <p:cNvSpPr/>
          <p:nvPr/>
        </p:nvSpPr>
        <p:spPr>
          <a:xfrm>
            <a:off x="5486400" y="40233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Interactive KPIs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2860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PREVENTIVE MAINTENANCE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5943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ROUTINES // PM.AUTOMATION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097280"/>
            <a:ext cx="4389120" cy="3566160"/>
          </a:xfrm>
          <a:prstGeom prst="roundRect">
            <a:avLst/>
          </a:prstGeom>
          <a:solidFill>
            <a:srgbClr val="100A1C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28016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PM Templates Roster: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Allows administration to draft recurring equipment diagnostic checksheets.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Execution Frequencies: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Automates scheduling (Daily, Weekly, Monthly, Annually) per equipment rack.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Background Spawner: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server compares timestamps in the background and injects active cards when due.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120640" y="1097280"/>
            <a:ext cx="3566160" cy="3566160"/>
          </a:xfrm>
          <a:prstGeom prst="roundRect">
            <a:avLst/>
          </a:prstGeom>
          <a:solidFill>
            <a:srgbClr val="100A1C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035040" y="1645920"/>
            <a:ext cx="1828800" cy="1828800"/>
          </a:xfrm>
          <a:prstGeom prst="ellipse">
            <a:avLst/>
          </a:prstGeom>
          <a:solidFill>
            <a:srgbClr val="201538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92240" y="2103120"/>
            <a:ext cx="914400" cy="914400"/>
          </a:xfrm>
          <a:prstGeom prst="ellipse">
            <a:avLst/>
          </a:prstGeom>
          <a:solidFill>
            <a:srgbClr val="120C2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0" y="38404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AUTO ENGINE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2860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 EVALUATION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5943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ROUTINES // LEADERBOARDS.POINTS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097280"/>
            <a:ext cx="4389120" cy="3566160"/>
          </a:xfrm>
          <a:prstGeom prst="roundRect">
            <a:avLst/>
          </a:prstGeom>
          <a:solidFill>
            <a:srgbClr val="100A1C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28016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Gamified Operations: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Calculates engineer points automatically relative to completed task difficulties.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Live Leaderboards: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Arranges engineers dynamically in rankings to fuel productivity.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Yearly Appraisals: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Saves annual ratings (Excellent, Very Good) alongside manager feedback logs.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120640" y="1097280"/>
            <a:ext cx="3566160" cy="3566160"/>
          </a:xfrm>
          <a:prstGeom prst="roundRect">
            <a:avLst/>
          </a:prstGeom>
          <a:solidFill>
            <a:srgbClr val="100A1C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0" y="2011680"/>
            <a:ext cx="1005840" cy="1828800"/>
          </a:xfrm>
          <a:prstGeom prst="rect">
            <a:avLst/>
          </a:prstGeom>
          <a:solidFill>
            <a:srgbClr val="201538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0" y="21031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1st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0" y="2560320"/>
            <a:ext cx="914400" cy="1280160"/>
          </a:xfrm>
          <a:prstGeom prst="rect">
            <a:avLst/>
          </a:prstGeom>
          <a:solidFill>
            <a:srgbClr val="201538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0" y="2651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</a:rPr>
              <a:t>2nd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406640" y="3017520"/>
            <a:ext cx="914400" cy="822960"/>
          </a:xfrm>
          <a:prstGeom prst="rect">
            <a:avLst/>
          </a:prstGeom>
          <a:solidFill>
            <a:srgbClr val="201538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06640" y="31089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5CF6"/>
                </a:solidFill>
              </a:rPr>
              <a:t>3rd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2860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COMMUNICATION MODULES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5943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ROUTINES // WEBRTC.SIGNALS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097280"/>
            <a:ext cx="4389120" cy="3566160"/>
          </a:xfrm>
          <a:prstGeom prst="roundRect">
            <a:avLst/>
          </a:prstGeom>
          <a:solidFill>
            <a:srgbClr val="100A1C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28016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Encrypted Chat Channels: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Secure text chat coordinates teams with inline image uploads.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P2P WebRTC Voice Rooms: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Audio conferences launch directly on web clients with high-fidelity streams.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Signaling Handshakes: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WebSocket servers signal audio connections without saving voice files.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120640" y="1097280"/>
            <a:ext cx="3566160" cy="3566160"/>
          </a:xfrm>
          <a:prstGeom prst="roundRect">
            <a:avLst/>
          </a:prstGeom>
          <a:solidFill>
            <a:srgbClr val="100A1C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583680" y="201168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Shape 7"/>
          <p:cNvSpPr/>
          <p:nvPr/>
        </p:nvSpPr>
        <p:spPr>
          <a:xfrm>
            <a:off x="6126480" y="1554480"/>
            <a:ext cx="1554480" cy="1554480"/>
          </a:xfrm>
          <a:prstGeom prst="arc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669280" y="1097280"/>
            <a:ext cx="2468880" cy="2468880"/>
          </a:xfrm>
          <a:prstGeom prst="arc">
            <a:avLst/>
          </a:prstGeom>
          <a:noFill/>
          <a:ln w="19050">
            <a:solidFill>
              <a:srgbClr val="8B5CF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0" y="38404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RTC Audio Channels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2860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OFFLINE CAPABILITIES &amp; PWA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5943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ROUTINES // OFFLINE.SYNC_QUEUE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097280"/>
            <a:ext cx="4389120" cy="3566160"/>
          </a:xfrm>
          <a:prstGeom prst="roundRect">
            <a:avLst/>
          </a:prstGeom>
          <a:solidFill>
            <a:srgbClr val="100A1C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28016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Service Worker Cache: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Tethers asset bundles using `sw.js` allowing launches on remote sites.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Action Queueing: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Caches user alterations in LocalStorage databases when connections drop.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Dynamic Background Sync: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Detects online handshakes automatically to sync records back to server.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120640" y="1097280"/>
            <a:ext cx="3566160" cy="3566160"/>
          </a:xfrm>
          <a:prstGeom prst="roundRect">
            <a:avLst/>
          </a:prstGeom>
          <a:solidFill>
            <a:srgbClr val="100A1C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69280" y="1371600"/>
            <a:ext cx="1737360" cy="1005840"/>
          </a:xfrm>
          <a:prstGeom prst="roundRect">
            <a:avLst/>
          </a:prstGeom>
          <a:solidFill>
            <a:srgbClr val="201538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0" y="15544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Client Device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(Offline)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669280" y="3108960"/>
            <a:ext cx="1737360" cy="1005840"/>
          </a:xfrm>
          <a:prstGeom prst="roundRect">
            <a:avLst/>
          </a:prstGeom>
          <a:solidFill>
            <a:srgbClr val="20153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9280" y="32918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Express Server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(Online Sync)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446520" y="2560320"/>
            <a:ext cx="182880" cy="365760"/>
          </a:xfrm>
          <a:prstGeom prst="rect">
            <a:avLst/>
          </a:prstGeom>
          <a:solidFill>
            <a:srgbClr val="06B6D4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2860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BACKUPS &amp; SYSTEM AUDIT LOGS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5943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ROUTINES // AUDIT_LOGGER.SECURE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097280"/>
            <a:ext cx="4389120" cy="3566160"/>
          </a:xfrm>
          <a:prstGeom prst="roundRect">
            <a:avLst/>
          </a:prstGeom>
          <a:solidFill>
            <a:srgbClr val="100A1C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28016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Audit Trail: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Secure database logger tracks user inputs, mutations, and actions.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Automatic Backups: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Creates periodic backup dumps under `backups/` directories.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JSON Import &amp; Export: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Enables quick migration of system configurations into portable text files.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120640" y="1097280"/>
            <a:ext cx="3566160" cy="3566160"/>
          </a:xfrm>
          <a:prstGeom prst="roundRect">
            <a:avLst/>
          </a:prstGeom>
          <a:solidFill>
            <a:srgbClr val="100A1C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17920" y="1280160"/>
            <a:ext cx="1371600" cy="731520"/>
          </a:xfrm>
          <a:prstGeom prst="can">
            <a:avLst/>
          </a:prstGeom>
          <a:solidFill>
            <a:srgbClr val="20153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17920" y="2194560"/>
            <a:ext cx="1371600" cy="731520"/>
          </a:xfrm>
          <a:prstGeom prst="can">
            <a:avLst/>
          </a:prstGeom>
          <a:solidFill>
            <a:srgbClr val="201538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17920" y="3108960"/>
            <a:ext cx="1371600" cy="731520"/>
          </a:xfrm>
          <a:prstGeom prst="can">
            <a:avLst/>
          </a:prstGeom>
          <a:solidFill>
            <a:srgbClr val="201538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0" y="40233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Secure Archiving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2860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RECENT SYSTEM UPGRADES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5943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ROUTINES // SYSTEM.STABILIZE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097280"/>
            <a:ext cx="4389120" cy="3566160"/>
          </a:xfrm>
          <a:prstGeom prst="roundRect">
            <a:avLst/>
          </a:prstGeom>
          <a:solidFill>
            <a:srgbClr val="100A1C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28016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Double-Click Booting: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Index portals fallback cleanly to localhosts when launched as standard files.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Heartbeat Optimizations: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Server grace periods extended to 2 minutes, preventing server exit on reloads.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Bespoke Login &amp; Storage: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Secure login portals customized for transmission sector engineers.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120640" y="1097280"/>
            <a:ext cx="3566160" cy="3566160"/>
          </a:xfrm>
          <a:prstGeom prst="roundRect">
            <a:avLst/>
          </a:prstGeom>
          <a:solidFill>
            <a:srgbClr val="100A1C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0" y="1463040"/>
            <a:ext cx="2834640" cy="2377440"/>
          </a:xfrm>
          <a:prstGeom prst="rect">
            <a:avLst/>
          </a:prstGeom>
          <a:solidFill>
            <a:srgbClr val="120C24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69280" y="2560320"/>
            <a:ext cx="45720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Shape 8"/>
          <p:cNvSpPr/>
          <p:nvPr/>
        </p:nvSpPr>
        <p:spPr>
          <a:xfrm>
            <a:off x="6126480" y="1828800"/>
            <a:ext cx="45720" cy="7772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Shape 9"/>
          <p:cNvSpPr/>
          <p:nvPr/>
        </p:nvSpPr>
        <p:spPr>
          <a:xfrm>
            <a:off x="6126480" y="1828800"/>
            <a:ext cx="18288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3" name="Shape 10"/>
          <p:cNvSpPr/>
          <p:nvPr/>
        </p:nvSpPr>
        <p:spPr>
          <a:xfrm>
            <a:off x="6309360" y="1828800"/>
            <a:ext cx="45720" cy="16459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Shape 11"/>
          <p:cNvSpPr/>
          <p:nvPr/>
        </p:nvSpPr>
        <p:spPr>
          <a:xfrm>
            <a:off x="6309360" y="3474720"/>
            <a:ext cx="18288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Shape 12"/>
          <p:cNvSpPr/>
          <p:nvPr/>
        </p:nvSpPr>
        <p:spPr>
          <a:xfrm>
            <a:off x="6492240" y="2560320"/>
            <a:ext cx="45720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Shape 13"/>
          <p:cNvSpPr/>
          <p:nvPr/>
        </p:nvSpPr>
        <p:spPr>
          <a:xfrm>
            <a:off x="6492240" y="2560320"/>
            <a:ext cx="155448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0" y="40233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System Heartbeat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2860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Success Partners &amp; Project Stakeholders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5943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PARTNERS // TEAM.MEMBERS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097280"/>
            <a:ext cx="3840480" cy="3657600"/>
          </a:xfrm>
          <a:prstGeom prst="roundRect">
            <a:avLst/>
          </a:prstGeom>
          <a:solidFill>
            <a:srgbClr val="100A1C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👥 Transmission Operations Engineers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1645920"/>
            <a:ext cx="34747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Eng. El-Hady Ahmed       • Eng. Hanady El-Helw
• Eng. Mohamed Mostafa     • Eng. Mohamed Salah
• Eng. Eman Abdel-Razek    • Eng. Rania Mahmoud
• Eng. Ahmed Taha          • Eng. Ahmed Hamdy
• Ashraf Kemal             • Wafaa Abdel-Razek
• Eng. Nour                • Eng. Alaa
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846320" y="1097280"/>
            <a:ext cx="3840480" cy="3657600"/>
          </a:xfrm>
          <a:prstGeom prst="roundRect">
            <a:avLst/>
          </a:prstGeom>
          <a:solidFill>
            <a:srgbClr val="100A1C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Database Stakeholders &amp; Supervisors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29200" y="1645920"/>
            <a:ext cx="34747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Engineer: Ahmed Taha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Role: Transmission O&amp;M Sector - North Sinai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Email: Ahmed.t.ahmad@te.eg | 01550030770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Engineer: Ahmed Metwaly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Role: First General Administration - El-Weng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Email: ahmed.t.ahmad@te.eg | 01000000000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Project Overseer: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General Directorate of Canal Cities, Sinai &amp; Red Sea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Telecom Egypt WE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OPS Operation System - System Overview &amp; Architecture Deck</dc:title>
  <dc:subject>WE Transmission Ops</dc:subject>
  <dc:creator>Antigravity AI</dc:creator>
  <cp:lastModifiedBy>Antigravity AI</cp:lastModifiedBy>
  <cp:revision>1</cp:revision>
  <dcterms:created xsi:type="dcterms:W3CDTF">2026-06-03T21:23:18Z</dcterms:created>
  <dcterms:modified xsi:type="dcterms:W3CDTF">2026-06-03T21:23:18Z</dcterms:modified>
</cp:coreProperties>
</file>